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D3BD0EB2-B23B-4DDA-9512-99B92BAE9AD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A9D8F"/>
                </a:solidFill>
              </a:defRPr>
            </a:pPr>
            <a:r>
              <a:rPr sz="1050" b="1">
                <a:solidFill>
                  <a:srgbClr val="2A9D8F"/>
                </a:solidFill>
              </a:rPr>
              <a:t>SP PETROLEUM • EDITABLE APPLICATION FLOW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B78CA19-0D44-475C-A63B-AA6B0B87DC7C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Application feature process and module flow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BC33B50-3AAE-4203-B377-C5C943F0ABD7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Validated data is published once, then consumed through three operational modules.</a:t>
            </a:r>
          </a:p>
        </p:txBody>
      </p:sp>
      <p:sp>
        <p:nvSpPr>
          <p:cNvPr id="4" name="entry-login">
            <a:extLst>
              <a:ext uri="{FF2B5EF4-FFF2-40B4-BE49-F238E27FC236}">
                <a16:creationId xmlns:a16="http://schemas.microsoft.com/office/drawing/2014/main" id="{E3311D7A-3954-4FD7-B107-85DB1D184F04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381125" cy="609600"/>
          </a:xfrm>
          <a:prstGeom prst="roundRect">
            <a:avLst>
              <a:gd name="adj" fmla="val 18750"/>
            </a:avLst>
          </a:prstGeom>
          <a:solidFill>
            <a:srgbClr val="E8F3F7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USER LOGIN</a:t>
            </a:r>
          </a:p>
        </p:txBody>
      </p:sp>
      <p:sp>
        <p:nvSpPr>
          <p:cNvPr id="5" name="entry-navigation">
            <a:extLst>
              <a:ext uri="{FF2B5EF4-FFF2-40B4-BE49-F238E27FC236}">
                <a16:creationId xmlns:a16="http://schemas.microsoft.com/office/drawing/2014/main" id="{6E0ED80A-F183-4BCA-8FA9-33CDBA0CFBED}"/>
              </a:ext>
            </a:extLst>
          </p:cNvPr>
          <p:cNvSpPr>
            <a:spLocks noGrp="1"/>
          </p:cNvSpPr>
          <p:nvPr/>
        </p:nvSpPr>
        <p:spPr>
          <a:xfrm>
            <a:off x="2333625" y="1676400"/>
            <a:ext cx="1524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MODULE</a:t>
            </a:r>
          </a:p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NAVIGATION</a:t>
            </a:r>
          </a:p>
        </p:txBody>
      </p:sp>
      <p:sp>
        <p:nvSpPr>
          <p:cNvPr id="6" name="import-upload">
            <a:extLst>
              <a:ext uri="{FF2B5EF4-FFF2-40B4-BE49-F238E27FC236}">
                <a16:creationId xmlns:a16="http://schemas.microsoft.com/office/drawing/2014/main" id="{92BF3CFC-EB6E-48E8-9A68-46AD5E5FE869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657350" cy="723900"/>
          </a:xfrm>
          <a:prstGeom prst="roundRect">
            <a:avLst>
              <a:gd name="adj" fmla="val 15789"/>
            </a:avLst>
          </a:prstGeom>
          <a:solidFill>
            <a:srgbClr val="E8F3F7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1  UPLOAD</a:t>
            </a:r>
          </a:p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Excel workbook</a:t>
            </a:r>
          </a:p>
        </p:txBody>
      </p:sp>
      <p:sp>
        <p:nvSpPr>
          <p:cNvPr id="7" name="import-normalize">
            <a:extLst>
              <a:ext uri="{FF2B5EF4-FFF2-40B4-BE49-F238E27FC236}">
                <a16:creationId xmlns:a16="http://schemas.microsoft.com/office/drawing/2014/main" id="{767E32A9-DD2A-471A-B32A-CF180389ABBD}"/>
              </a:ext>
            </a:extLst>
          </p:cNvPr>
          <p:cNvSpPr>
            <a:spLocks noGrp="1"/>
          </p:cNvSpPr>
          <p:nvPr/>
        </p:nvSpPr>
        <p:spPr>
          <a:xfrm>
            <a:off x="2428875" y="3238500"/>
            <a:ext cx="1657350" cy="723900"/>
          </a:xfrm>
          <a:prstGeom prst="roundRect">
            <a:avLst>
              <a:gd name="adj" fmla="val 15789"/>
            </a:avLst>
          </a:prstGeom>
          <a:solidFill>
            <a:srgbClr val="E8F3F7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2  NORMALIZE</a:t>
            </a:r>
          </a:p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Headers + lineage</a:t>
            </a:r>
          </a:p>
        </p:txBody>
      </p:sp>
      <p:sp>
        <p:nvSpPr>
          <p:cNvPr id="8" name="import-map">
            <a:extLst>
              <a:ext uri="{FF2B5EF4-FFF2-40B4-BE49-F238E27FC236}">
                <a16:creationId xmlns:a16="http://schemas.microsoft.com/office/drawing/2014/main" id="{94DAAEDE-05F5-439C-888E-82ACF2AFB040}"/>
              </a:ext>
            </a:extLst>
          </p:cNvPr>
          <p:cNvSpPr>
            <a:spLocks noGrp="1"/>
          </p:cNvSpPr>
          <p:nvPr/>
        </p:nvSpPr>
        <p:spPr>
          <a:xfrm>
            <a:off x="4305300" y="3238500"/>
            <a:ext cx="1657350" cy="723900"/>
          </a:xfrm>
          <a:prstGeom prst="roundRect">
            <a:avLst>
              <a:gd name="adj" fmla="val 15789"/>
            </a:avLst>
          </a:prstGeom>
          <a:solidFill>
            <a:srgbClr val="E8F3F7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 dirty="0">
                <a:solidFill>
                  <a:srgbClr val="17324D"/>
                </a:solidFill>
              </a:rPr>
              <a:t>3  MAP</a:t>
            </a:r>
            <a:r>
              <a:rPr lang="en-CA" sz="1350" b="1" dirty="0">
                <a:solidFill>
                  <a:srgbClr val="17324D"/>
                </a:solidFill>
              </a:rPr>
              <a:t>PING</a:t>
            </a:r>
            <a:endParaRPr sz="1350" b="1" dirty="0">
              <a:solidFill>
                <a:srgbClr val="17324D"/>
              </a:solidFill>
            </a:endParaRPr>
          </a:p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 dirty="0">
                <a:solidFill>
                  <a:srgbClr val="17324D"/>
                </a:solidFill>
              </a:rPr>
              <a:t>Source → target</a:t>
            </a:r>
          </a:p>
        </p:txBody>
      </p:sp>
      <p:sp>
        <p:nvSpPr>
          <p:cNvPr id="9" name="import-review">
            <a:extLst>
              <a:ext uri="{FF2B5EF4-FFF2-40B4-BE49-F238E27FC236}">
                <a16:creationId xmlns:a16="http://schemas.microsoft.com/office/drawing/2014/main" id="{BE442698-6B7F-4382-9883-9DB7A7AAD1A1}"/>
              </a:ext>
            </a:extLst>
          </p:cNvPr>
          <p:cNvSpPr>
            <a:spLocks noGrp="1"/>
          </p:cNvSpPr>
          <p:nvPr/>
        </p:nvSpPr>
        <p:spPr>
          <a:xfrm>
            <a:off x="6181725" y="3238500"/>
            <a:ext cx="1657350" cy="723900"/>
          </a:xfrm>
          <a:prstGeom prst="roundRect">
            <a:avLst>
              <a:gd name="adj" fmla="val 15789"/>
            </a:avLst>
          </a:prstGeom>
          <a:solidFill>
            <a:srgbClr val="E8F3F7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4  REVIEW</a:t>
            </a:r>
          </a:p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Preview + validate</a:t>
            </a:r>
          </a:p>
        </p:txBody>
      </p:sp>
      <p:sp>
        <p:nvSpPr>
          <p:cNvPr id="10" name="import-publish">
            <a:extLst>
              <a:ext uri="{FF2B5EF4-FFF2-40B4-BE49-F238E27FC236}">
                <a16:creationId xmlns:a16="http://schemas.microsoft.com/office/drawing/2014/main" id="{D479C689-FE5E-44FA-A04F-92CD60877192}"/>
              </a:ext>
            </a:extLst>
          </p:cNvPr>
          <p:cNvSpPr>
            <a:spLocks noGrp="1"/>
          </p:cNvSpPr>
          <p:nvPr/>
        </p:nvSpPr>
        <p:spPr>
          <a:xfrm>
            <a:off x="8058150" y="3238500"/>
            <a:ext cx="1657350" cy="723900"/>
          </a:xfrm>
          <a:prstGeom prst="roundRect">
            <a:avLst>
              <a:gd name="adj" fmla="val 15789"/>
            </a:avLst>
          </a:prstGeom>
          <a:solidFill>
            <a:srgbClr val="D9F0EC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5  PUBLISH</a:t>
            </a:r>
          </a:p>
          <a:p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Complete process</a:t>
            </a:r>
          </a:p>
        </p:txBody>
      </p:sp>
      <p:sp>
        <p:nvSpPr>
          <p:cNvPr id="11" name="shared-database">
            <a:extLst>
              <a:ext uri="{FF2B5EF4-FFF2-40B4-BE49-F238E27FC236}">
                <a16:creationId xmlns:a16="http://schemas.microsoft.com/office/drawing/2014/main" id="{8FF55D4D-071A-4A40-8F43-67EE4AB9EA1D}"/>
              </a:ext>
            </a:extLst>
          </p:cNvPr>
          <p:cNvSpPr>
            <a:spLocks noGrp="1"/>
          </p:cNvSpPr>
          <p:nvPr/>
        </p:nvSpPr>
        <p:spPr>
          <a:xfrm>
            <a:off x="10020300" y="3133725"/>
            <a:ext cx="1638300" cy="933450"/>
          </a:xfrm>
          <a:prstGeom prst="roundRect">
            <a:avLst>
              <a:gd name="adj" fmla="val 12245"/>
            </a:avLst>
          </a:prstGeom>
          <a:solidFill>
            <a:srgbClr val="17324D"/>
          </a:solidFill>
          <a:ln w="14288">
            <a:solidFill>
              <a:srgbClr val="1732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POSTGRESQL + POSTGIS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Shared governed data</a:t>
            </a:r>
          </a:p>
        </p:txBody>
      </p:sp>
      <p:sp>
        <p:nvSpPr>
          <p:cNvPr id="12" name="module-dashboard">
            <a:extLst>
              <a:ext uri="{FF2B5EF4-FFF2-40B4-BE49-F238E27FC236}">
                <a16:creationId xmlns:a16="http://schemas.microsoft.com/office/drawing/2014/main" id="{88D31597-D76A-43B9-9DA3-050E500A4737}"/>
              </a:ext>
            </a:extLst>
          </p:cNvPr>
          <p:cNvSpPr>
            <a:spLocks noGrp="1"/>
          </p:cNvSpPr>
          <p:nvPr/>
        </p:nvSpPr>
        <p:spPr>
          <a:xfrm>
            <a:off x="2095500" y="5010150"/>
            <a:ext cx="2362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3B82C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DASHBOARD</a:t>
            </a:r>
          </a:p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Map • filters • well register</a:t>
            </a:r>
          </a:p>
        </p:txBody>
      </p:sp>
      <p:sp>
        <p:nvSpPr>
          <p:cNvPr id="13" name="module-production">
            <a:extLst>
              <a:ext uri="{FF2B5EF4-FFF2-40B4-BE49-F238E27FC236}">
                <a16:creationId xmlns:a16="http://schemas.microsoft.com/office/drawing/2014/main" id="{F5E587AC-7885-4601-B5AD-7639A2E8C80C}"/>
              </a:ext>
            </a:extLst>
          </p:cNvPr>
          <p:cNvSpPr>
            <a:spLocks noGrp="1"/>
          </p:cNvSpPr>
          <p:nvPr/>
        </p:nvSpPr>
        <p:spPr>
          <a:xfrm>
            <a:off x="4914900" y="5010150"/>
            <a:ext cx="2362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2A9D8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PRODUCTION MODULE</a:t>
            </a:r>
          </a:p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KPIs • trends • comparisons</a:t>
            </a:r>
          </a:p>
        </p:txBody>
      </p:sp>
      <p:sp>
        <p:nvSpPr>
          <p:cNvPr id="14" name="module-data-browser">
            <a:extLst>
              <a:ext uri="{FF2B5EF4-FFF2-40B4-BE49-F238E27FC236}">
                <a16:creationId xmlns:a16="http://schemas.microsoft.com/office/drawing/2014/main" id="{45FBA37B-5E1E-4272-A9C9-5834860EEA9D}"/>
              </a:ext>
            </a:extLst>
          </p:cNvPr>
          <p:cNvSpPr>
            <a:spLocks noGrp="1"/>
          </p:cNvSpPr>
          <p:nvPr/>
        </p:nvSpPr>
        <p:spPr>
          <a:xfrm>
            <a:off x="7734300" y="5010150"/>
            <a:ext cx="2362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D5A0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DATA BROWSER</a:t>
            </a:r>
          </a:p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Tables • records • inspection</a:t>
            </a:r>
          </a:p>
        </p:txBody>
      </p:sp>
      <p:cxnSp>
        <p:nvCxnSpPr>
          <p:cNvPr id="46" name="Straight Arrow Connector 45"/>
          <p:cNvCxnSpPr>
            <a:stCxn id="4" idx="3"/>
            <a:endCxn id="5" idx="1"/>
          </p:cNvCxnSpPr>
          <p:nvPr/>
        </p:nvCxnSpPr>
        <p:spPr>
          <a:xfrm>
            <a:off x="1914525" y="2057400"/>
            <a:ext cx="419100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48" name="Straight Arrow Connector 47"/>
          <p:cNvCxnSpPr>
            <a:stCxn id="6" idx="3"/>
            <a:endCxn id="7" idx="1"/>
          </p:cNvCxnSpPr>
          <p:nvPr/>
        </p:nvCxnSpPr>
        <p:spPr>
          <a:xfrm>
            <a:off x="2209800" y="3600450"/>
            <a:ext cx="219075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49" name="Straight Arrow Connector 48"/>
          <p:cNvCxnSpPr>
            <a:stCxn id="7" idx="3"/>
            <a:endCxn id="8" idx="1"/>
          </p:cNvCxnSpPr>
          <p:nvPr/>
        </p:nvCxnSpPr>
        <p:spPr>
          <a:xfrm>
            <a:off x="4086225" y="3600450"/>
            <a:ext cx="219075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50" name="Straight Arrow Connector 49"/>
          <p:cNvCxnSpPr>
            <a:stCxn id="8" idx="3"/>
            <a:endCxn id="9" idx="1"/>
          </p:cNvCxnSpPr>
          <p:nvPr/>
        </p:nvCxnSpPr>
        <p:spPr>
          <a:xfrm>
            <a:off x="5962650" y="3600450"/>
            <a:ext cx="219075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51" name="Straight Arrow Connector 50"/>
          <p:cNvCxnSpPr>
            <a:stCxn id="9" idx="3"/>
            <a:endCxn id="10" idx="1"/>
          </p:cNvCxnSpPr>
          <p:nvPr/>
        </p:nvCxnSpPr>
        <p:spPr>
          <a:xfrm>
            <a:off x="7839075" y="3600450"/>
            <a:ext cx="219075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52" name="Straight Arrow Connector 51"/>
          <p:cNvCxnSpPr>
            <a:stCxn id="10" idx="3"/>
            <a:endCxn id="11" idx="1"/>
          </p:cNvCxnSpPr>
          <p:nvPr/>
        </p:nvCxnSpPr>
        <p:spPr>
          <a:xfrm>
            <a:off x="9715500" y="3600450"/>
            <a:ext cx="304800" cy="0"/>
          </a:xfrm>
          <a:prstGeom prst="straightConnector1">
            <a:avLst/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53" name="Connector: Elbow 52"/>
          <p:cNvCxnSpPr>
            <a:stCxn id="11" idx="2"/>
            <a:endCxn id="12" idx="0"/>
          </p:cNvCxnSpPr>
          <p:nvPr/>
        </p:nvCxnSpPr>
        <p:spPr>
          <a:xfrm flipH="1">
            <a:off x="3276600" y="4067175"/>
            <a:ext cx="7562850" cy="9429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3B82C4"/>
            </a:solidFill>
            <a:prstDash val="solid"/>
            <a:headEnd type="triangle" w="sm" len="sm"/>
          </a:ln>
        </p:spPr>
      </p:cxnSp>
      <p:cxnSp>
        <p:nvCxnSpPr>
          <p:cNvPr id="54" name="Connector: Elbow 53"/>
          <p:cNvCxnSpPr>
            <a:stCxn id="11" idx="2"/>
            <a:endCxn id="13" idx="0"/>
          </p:cNvCxnSpPr>
          <p:nvPr/>
        </p:nvCxnSpPr>
        <p:spPr>
          <a:xfrm flipH="1">
            <a:off x="6096000" y="4067175"/>
            <a:ext cx="4743450" cy="9429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55" name="Connector: Elbow 54"/>
          <p:cNvCxnSpPr>
            <a:stCxn id="11" idx="2"/>
            <a:endCxn id="14" idx="0"/>
          </p:cNvCxnSpPr>
          <p:nvPr/>
        </p:nvCxnSpPr>
        <p:spPr>
          <a:xfrm flipH="1">
            <a:off x="8915400" y="4067175"/>
            <a:ext cx="1924050" cy="9429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D5A04A"/>
            </a:solidFill>
            <a:prstDash val="solid"/>
            <a:headEnd type="triangle" w="sm" len="sm"/>
          </a:ln>
        </p:spPr>
      </p:cxnSp>
      <p:cxnSp>
        <p:nvCxnSpPr>
          <p:cNvPr id="58" name="Connector: Elbow 57"/>
          <p:cNvCxnSpPr>
            <a:cxnSpLocks/>
            <a:stCxn id="5" idx="2"/>
            <a:endCxn id="28" idx="0"/>
          </p:cNvCxnSpPr>
          <p:nvPr/>
        </p:nvCxnSpPr>
        <p:spPr>
          <a:xfrm rot="5400000">
            <a:off x="2414588" y="2100263"/>
            <a:ext cx="342900" cy="1019175"/>
          </a:xfrm>
          <a:prstGeom prst="bentConnector3">
            <a:avLst>
              <a:gd name="adj1" fmla="val 50000"/>
            </a:avLst>
          </a:prstGeom>
          <a:ln w="23813">
            <a:solidFill>
              <a:srgbClr val="94A3B8"/>
            </a:solidFill>
            <a:prstDash val="solid"/>
            <a:headEnd type="triangle" w="sm" len="sm"/>
          </a:ln>
        </p:spPr>
      </p:cxnSp>
      <p:sp>
        <p:nvSpPr>
          <p:cNvPr id="28" name="import-label">
            <a:extLst>
              <a:ext uri="{FF2B5EF4-FFF2-40B4-BE49-F238E27FC236}">
                <a16:creationId xmlns:a16="http://schemas.microsoft.com/office/drawing/2014/main" id="{1DB3869C-DF2E-49AD-B677-F358751BEA85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DATA IMPORT MODULE</a:t>
            </a:r>
          </a:p>
        </p:txBody>
      </p:sp>
      <p:sp>
        <p:nvSpPr>
          <p:cNvPr id="29" name="modules-label">
            <a:extLst>
              <a:ext uri="{FF2B5EF4-FFF2-40B4-BE49-F238E27FC236}">
                <a16:creationId xmlns:a16="http://schemas.microsoft.com/office/drawing/2014/main" id="{1D6AC12D-404E-4513-A212-EDCBD3210141}"/>
              </a:ext>
            </a:extLst>
          </p:cNvPr>
          <p:cNvSpPr>
            <a:spLocks noGrp="1"/>
          </p:cNvSpPr>
          <p:nvPr/>
        </p:nvSpPr>
        <p:spPr>
          <a:xfrm>
            <a:off x="428625" y="45148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324D"/>
                </a:solidFill>
              </a:defRPr>
            </a:pPr>
            <a:r>
              <a:rPr sz="1800" b="1" dirty="0">
                <a:solidFill>
                  <a:srgbClr val="17324D"/>
                </a:solidFill>
              </a:rPr>
              <a:t>OPERATIONAL MODULES</a:t>
            </a:r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4FC93475-0DA0-4562-BD83-381CFA02997E}"/>
              </a:ext>
            </a:extLst>
          </p:cNvPr>
          <p:cNvSpPr>
            <a:spLocks noGrp="1"/>
          </p:cNvSpPr>
          <p:nvPr/>
        </p:nvSpPr>
        <p:spPr>
          <a:xfrm>
            <a:off x="533400" y="6334125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All boxes, labels, and connectors remain editable in PowerPoint.</a:t>
            </a:r>
          </a:p>
        </p:txBody>
      </p:sp>
      <p:sp>
        <p:nvSpPr>
          <p:cNvPr id="31" name="page">
            <a:extLst>
              <a:ext uri="{FF2B5EF4-FFF2-40B4-BE49-F238E27FC236}">
                <a16:creationId xmlns:a16="http://schemas.microsoft.com/office/drawing/2014/main" id="{373B9582-3D52-45F4-A9D3-CDD4F7A51BFD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96730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</Words>
  <Application>Microsoft Office PowerPoint</Application>
  <DocSecurity>0</DocSecurity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Guowei Xia</cp:lastModifiedBy>
  <cp:revision>1</cp:revision>
  <dcterms:created xsi:type="dcterms:W3CDTF">2026-06-30T19:30:08Z</dcterms:created>
  <dcterms:modified xsi:type="dcterms:W3CDTF">2026-06-30T20:53:19Z</dcterms:modified>
</cp:coreProperties>
</file>